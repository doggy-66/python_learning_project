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137160" cy="68580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84048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核心概念入门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84048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Token 到 RAG，全面理解 LLM 技术生态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适用于授课与自学 ·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2 页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97280" y="192024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92024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0116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94560" y="201168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LLM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301752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01752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10896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94560" y="310896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分词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411480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411480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2062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194560" y="420624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向量化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7280" y="521208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521208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530352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194560" y="530352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28716" y="192024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28716" y="192024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6003036" y="20116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25996" y="201168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检索增强生成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28716" y="301752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28716" y="301752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6003036" y="310896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25996" y="310896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模型上下文协议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28716" y="411480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28716" y="411480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6003036" y="42062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825996" y="420624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知识全景与学习路线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2 页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什么是 LLM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 = AI 的“大脑”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3 页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8897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0392B"/>
                </a:solidFill>
              </a:rPr>
              <a:t>🧠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011680" y="2651760"/>
            <a:ext cx="7068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是基于海量文本数据训练而成的深度神经网络模型，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能够理解并生成人类语言。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374904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代码生成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374904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语义理解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374904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逻辑推理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438912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4389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对话问答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12080" y="438912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4389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文本创作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438912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4389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翻译摘要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3 页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架构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所有现代 LLM 的基石 (2017, Google)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4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02996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029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1965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输入文本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196596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将原始文本切分为 Token 序列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278892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289864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2898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2834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位置编码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283464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为每个 Token 添加位置信息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97280" y="365760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34440" y="376732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3767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11680" y="3703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多头自注意力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12080" y="370332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同时捕捉多个子空间的词间关系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97280" y="452628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34440" y="463600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1234440" y="4636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011680" y="4572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前馈网络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12080" y="457200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非线性变换增强表达能力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97280" y="539496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34440" y="550468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1234440" y="5504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011680" y="5440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输出概率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12080" y="544068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Softmax 预测下一个 Token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4 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训练三阶段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从海量数据到符合人类偏好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5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782824" cy="320040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2782824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9456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27432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154680"/>
            <a:ext cx="2782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Pre-training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3566160"/>
            <a:ext cx="24170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在海量互联网语料、书籍上训练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让模型学会语法、知识和推理能力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54424" y="1920240"/>
            <a:ext cx="2782824" cy="320040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54424" y="1920240"/>
            <a:ext cx="2782824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4154424" y="219456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154424" y="27432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54424" y="3154680"/>
            <a:ext cx="2782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Fine-tuning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37304" y="3566160"/>
            <a:ext cx="24170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在特定任务数据集上进一步训练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让模型适配代码生成、对话等场景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11568" y="1920240"/>
            <a:ext cx="2782824" cy="320040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1568" y="1920240"/>
            <a:ext cx="2782824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7211568" y="219456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11568" y="27432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RLHF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11568" y="3154680"/>
            <a:ext cx="2782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人类对齐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94448" y="3566160"/>
            <a:ext cx="24170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基于人类反馈的强化学习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让模型输出有用、诚实、无害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5 页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知名模型一览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主流厂商与代表模型 (截至 2025)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6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5740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237744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310896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128K~1M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0144" y="192024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37304" y="205740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37304" y="237744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3.5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37304" y="310896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200K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03008" y="192024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40168" y="205740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40168" y="237744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2.0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40168" y="310896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1M~2M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402336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416052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448056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 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521208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128K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00144" y="402336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37304" y="416052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37304" y="448056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337304" y="521208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128K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03008" y="402336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40168" y="416052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40168" y="448056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 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440168" y="521208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128K~1M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6 页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Token 分词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大语言模型的最小处理单位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7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定义: Token 是 LLM 处理文本的最小基本单位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862279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≈0.75 个英文单词 ≈1.5 个中文字   |   按 BPE / SentencePiece 算法切分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301752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分词示例 (BPE 算法)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3383280"/>
            <a:ext cx="4357116" cy="731520"/>
          </a:xfrm>
          <a:prstGeom prst="roundRect">
            <a:avLst>
              <a:gd name="adj" fmla="val 75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474720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"Hello World"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886200"/>
            <a:ext cx="4082796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["Hello", " World"]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2 个 Token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37276" y="3383280"/>
            <a:ext cx="4357116" cy="731520"/>
          </a:xfrm>
          <a:prstGeom prst="roundRect">
            <a:avLst>
              <a:gd name="adj" fmla="val 75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4436" y="3474720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"大语言模型"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74436" y="3886200"/>
            <a:ext cx="4082796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["大", "语言", "模型"]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4~6 个 Token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438912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数量估算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75488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个英文单词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45836" y="475488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1.3 Token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507492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个中文字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45836" y="507492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1.5 Token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539496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页英文文档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45836" y="539496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500 Token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571500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128K 上下文窗口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45836" y="571500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250 页英文 / 170 页中文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7 页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成本与上下文窗口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决定成本、速度和能力上限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8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737104" cy="4114800"/>
          </a:xfrm>
          <a:prstGeom prst="roundRect">
            <a:avLst>
              <a:gd name="adj" fmla="val 200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2737104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03120"/>
            <a:ext cx="2737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2651760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200400"/>
            <a:ext cx="23713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Token 计费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+ 输出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模型越大越贵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用简洁 Prompt 省钱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0144" y="1920240"/>
            <a:ext cx="2737104" cy="4114800"/>
          </a:xfrm>
          <a:prstGeom prst="roundRect">
            <a:avLst>
              <a:gd name="adj" fmla="val 200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0144" y="1920240"/>
            <a:ext cx="2737104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4200144" y="2103120"/>
            <a:ext cx="2737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200144" y="2651760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3024" y="3200400"/>
            <a:ext cx="23713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数越少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响应越快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批量处理可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降低延迟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03008" y="1920240"/>
            <a:ext cx="2737104" cy="4114800"/>
          </a:xfrm>
          <a:prstGeom prst="roundRect">
            <a:avLst>
              <a:gd name="adj" fmla="val 200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03008" y="1920240"/>
            <a:ext cx="2737104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7303008" y="2103120"/>
            <a:ext cx="2737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303008" y="2651760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上下文窗口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85888" y="3200400"/>
            <a:ext cx="23713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GPT-4: 128K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Claude: 200K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Gemini: 1M~2M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超限需截断或压缩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8 页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Embedding 向量化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让计算机“理解”语义的数学方法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9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核心概念: 将文本/图片转为固定长度的浮点数向量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862279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语义相近的内容 → 向量空间中距离更近   |   用余弦相似度衡量两个向量的语义接近程度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2926080"/>
            <a:ext cx="4311396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926080"/>
            <a:ext cx="431139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063240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语义向量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474720"/>
            <a:ext cx="4037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文本映射到高维空间中的点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(如 768 / 1024 / 1536 维)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82996" y="2926080"/>
            <a:ext cx="4311396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82996" y="2926080"/>
            <a:ext cx="431139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5820156" y="3063240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余弦相似度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20156" y="3474720"/>
            <a:ext cx="4037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衡量两个向量的方向相似度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值越大 → 语义越接近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4480560"/>
            <a:ext cx="4311396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4480560"/>
            <a:ext cx="431139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4617720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模型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5029200"/>
            <a:ext cx="4037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text-embedding-3-small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 / text2vec 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82996" y="4480560"/>
            <a:ext cx="4311396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82996" y="4480560"/>
            <a:ext cx="431139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5820156" y="4617720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维度选择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20156" y="5029200"/>
            <a:ext cx="4037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高维(1536): 更精确但慢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低维(384): 快但精度略低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9 页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应用场景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从搜索到推荐，语义向量无处不在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10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4265676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920240" y="2057400"/>
            <a:ext cx="3259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检索增强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651760"/>
            <a:ext cx="37170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文档片段向量化存入数据库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用户提问也向量化匹配最相关片段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28716" y="1920240"/>
            <a:ext cx="4265676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65876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551676" y="2057400"/>
            <a:ext cx="3259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语义搜索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03036" y="2651760"/>
            <a:ext cx="37170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传统关键词→语义匹配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输入自然语言即可找到意思相近的内容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97280" y="4023360"/>
            <a:ext cx="4265676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920240" y="4160520"/>
            <a:ext cx="3259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文本聚类/分类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754880"/>
            <a:ext cx="37170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按语义自动归类文档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相似内容自动成组、异常检测去重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28716" y="4023360"/>
            <a:ext cx="4265676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5876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51676" y="4160520"/>
            <a:ext cx="3259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推荐系统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03036" y="4754880"/>
            <a:ext cx="37170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用户行为向量化 + 物品特征向量化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相似度计算推荐相关内容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10 页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向量数据库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专门存储和检索高维语义向量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11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为什么需要向量数据库？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862279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传统数据库无法进行语义匹配。向量数据库用索引算法（HNSW/IVF）在大规模向量集中毫秒级找到最相似的 Top-K 结果。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3017520"/>
            <a:ext cx="2782824" cy="292608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3154680"/>
            <a:ext cx="2508504" cy="365760"/>
          </a:xfrm>
          <a:prstGeom prst="roundRect">
            <a:avLst>
              <a:gd name="adj" fmla="val 10000"/>
            </a:avLst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154680"/>
            <a:ext cx="2508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最常用 · 高精度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365760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HNSW 分层导航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4114800"/>
            <a:ext cx="25085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分层可导航小世界图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毫秒级搜索响应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适合高精度场景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54424" y="3017520"/>
            <a:ext cx="2782824" cy="292608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1584" y="3154680"/>
            <a:ext cx="2508504" cy="365760"/>
          </a:xfrm>
          <a:prstGeom prst="roundRect">
            <a:avLst>
              <a:gd name="adj" fmla="val 10000"/>
            </a:avLst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1584" y="3154680"/>
            <a:ext cx="2508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速度快 · 精度略低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1584" y="365760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IVF 倒排索引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91584" y="4114800"/>
            <a:ext cx="25085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将向量空间分为多个聚类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只在相近聚类内搜索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适合超大规模数据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11568" y="3017520"/>
            <a:ext cx="2782824" cy="292608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48728" y="3154680"/>
            <a:ext cx="2508504" cy="365760"/>
          </a:xfrm>
          <a:prstGeom prst="roundRect">
            <a:avLst>
              <a:gd name="adj" fmla="val 10000"/>
            </a:avLst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48728" y="3154680"/>
            <a:ext cx="2508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48728" y="365760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 近似最近邻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48728" y="4114800"/>
            <a:ext cx="25085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牺牲极小精度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换取千倍以上的搜索速度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是向量数据库的默认搜索方式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11 页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主流向量数据库对比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选择适合你场景的向量数据库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12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2860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18288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部署方式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1920240"/>
            <a:ext cx="22860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1920240"/>
            <a:ext cx="27432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2423160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24231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Pinecone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2423160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24231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全托管 SaaS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2423160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24231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零运维 · 自动扩缩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98080" y="2423160"/>
            <a:ext cx="2743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24231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生产环境快速上手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97280" y="3063240"/>
            <a:ext cx="22860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3063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Milvus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063240"/>
            <a:ext cx="18288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0632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自建/托管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12080" y="3063240"/>
            <a:ext cx="22860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0" y="3063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 · GPU 加速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98080" y="3063240"/>
            <a:ext cx="27432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0" name="Text 28"/>
          <p:cNvSpPr/>
          <p:nvPr/>
        </p:nvSpPr>
        <p:spPr>
          <a:xfrm>
            <a:off x="7589520" y="3063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企业级大规模部署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97280" y="3703320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188720" y="3703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Qdrant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3703320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自建/托管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12080" y="3703320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0" y="3703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 · Rust 编写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0" y="3703320"/>
            <a:ext cx="2743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7589520" y="37033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中小规模 / 边缘计算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97280" y="4343400"/>
            <a:ext cx="22860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0" name="Text 38"/>
          <p:cNvSpPr/>
          <p:nvPr/>
        </p:nvSpPr>
        <p:spPr>
          <a:xfrm>
            <a:off x="1188720" y="43434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83280" y="4343400"/>
            <a:ext cx="18288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2" name="Text 40"/>
          <p:cNvSpPr/>
          <p:nvPr/>
        </p:nvSpPr>
        <p:spPr>
          <a:xfrm>
            <a:off x="3474720" y="43434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嵌入式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212080" y="4343400"/>
            <a:ext cx="22860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0" y="43434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原生 · 开发友好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98080" y="4343400"/>
            <a:ext cx="27432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6" name="Text 44"/>
          <p:cNvSpPr/>
          <p:nvPr/>
        </p:nvSpPr>
        <p:spPr>
          <a:xfrm>
            <a:off x="7589520" y="4343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原型开发 / 学习实验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12 页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RAG 检索增强生成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LLM 装上一个“随身图书馆”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13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02996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029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74520" y="192024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77440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文档切分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PDF/网页 → 语义片段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278892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289864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2898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74520" y="278892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7744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283464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文本片段 → 语义向量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365760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4440" y="376732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3767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74520" y="365760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377440" y="3703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向量存储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54880" y="370332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语义向量存入向量数据库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97280" y="452628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34440" y="463600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1234440" y="4636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74520" y="452628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0" y="4572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54880" y="457200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查询向量化 → 搜索 Top-K 相似片段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97280" y="539496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34440" y="550468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1234440" y="5504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874520" y="539496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377440" y="5440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生成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754880" y="544068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参考检索到的资料 + 用户问题 → 生成准确答案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13 页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vs 纯 LLM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从“闭卷考试”到“开卷考试”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14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4311396" cy="4114800"/>
          </a:xfrm>
          <a:prstGeom prst="roundRect">
            <a:avLst>
              <a:gd name="adj" fmla="val 133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4311396" cy="640080"/>
          </a:xfrm>
          <a:prstGeom prst="roundRect">
            <a:avLst>
              <a:gd name="adj" fmla="val 8571"/>
            </a:avLst>
          </a:prstGeom>
          <a:solidFill>
            <a:srgbClr val="66666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920240"/>
            <a:ext cx="43113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 纯 LLM（闭卷）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92608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依赖训练数据(有截止日期)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42900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可能产生幻觉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393192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无法访问最新信息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443484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无法溯源答案依据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493776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知识不能动态更新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82996" y="1920240"/>
            <a:ext cx="4311396" cy="4114800"/>
          </a:xfrm>
          <a:prstGeom prst="roundRect">
            <a:avLst>
              <a:gd name="adj" fmla="val 133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82996" y="1920240"/>
            <a:ext cx="4311396" cy="640080"/>
          </a:xfrm>
          <a:prstGeom prst="roundRect">
            <a:avLst>
              <a:gd name="adj" fmla="val 8571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5682996" y="1920240"/>
            <a:ext cx="43113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 RAG（开卷）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57316" y="292608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答案基于外部知识库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57316" y="342900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准确可靠 · 减少幻觉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57316" y="393192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知识可实时动态更新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57316" y="443484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每条答案可溯源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57316" y="493776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支持文档管理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14 页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MCP 模型上下文协议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LLM 装上一套“USB 接口”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15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2024 年提出的开放标准协议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LLM 能安全、统一地连接外部工具和数据源。无论后面接的是数据库、文件系统还是第三方 API，都通过同一个标准协议通信——开发者只需实现一次 MCP Server，即可被任何 LLM 客户端复用。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3291840"/>
            <a:ext cx="2782824" cy="2560320"/>
          </a:xfrm>
          <a:prstGeom prst="roundRect">
            <a:avLst>
              <a:gd name="adj" fmla="val 214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4290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097280" y="3291840"/>
            <a:ext cx="2782824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93192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 Resources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4389120"/>
            <a:ext cx="2508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只读数据源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文件内容 / 数据库记录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URI 地址访问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54424" y="3291840"/>
            <a:ext cx="2782824" cy="2560320"/>
          </a:xfrm>
          <a:prstGeom prst="roundRect">
            <a:avLst>
              <a:gd name="adj" fmla="val 214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54424" y="34290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154424" y="3291840"/>
            <a:ext cx="2782824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4291584" y="393192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Tools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1584" y="4389120"/>
            <a:ext cx="2508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动态操作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写文件 / 发邮件 / 查天气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有清晰的入参出参 Schema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11568" y="3291840"/>
            <a:ext cx="2782824" cy="2560320"/>
          </a:xfrm>
          <a:prstGeom prst="roundRect">
            <a:avLst>
              <a:gd name="adj" fmla="val 214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11568" y="34290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7211568" y="3291840"/>
            <a:ext cx="2782824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7348728" y="393192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 Prompts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48728" y="4389120"/>
            <a:ext cx="2508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预置 Prompt 模板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 LLM 理解特定场景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如何调用工具或使用资源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15 页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架构详解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 → Client → Transport 三层架构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16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4219956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39456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Server（服务端）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39456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暴露资源、工具和 Prompt 模板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独立服务进程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遵循 MCP 标准协议通信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1920240"/>
            <a:ext cx="421995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Shape 9"/>
          <p:cNvSpPr/>
          <p:nvPr/>
        </p:nvSpPr>
        <p:spPr>
          <a:xfrm>
            <a:off x="5774436" y="1920240"/>
            <a:ext cx="4219956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11596" y="2011680"/>
            <a:ext cx="39456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Client（客户端）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11596" y="2423160"/>
            <a:ext cx="39456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运行在 LLM 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发现 Server 能力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调度工具调用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74436" y="1920240"/>
            <a:ext cx="4219956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84048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⟷  双向通信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4297680"/>
            <a:ext cx="8897112" cy="1463040"/>
          </a:xfrm>
          <a:prstGeom prst="roundRect">
            <a:avLst>
              <a:gd name="adj" fmla="val 375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438912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Transport 传输层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846320"/>
            <a:ext cx="4448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stdio（本地进程通信）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516636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适用本地工具 · 零网络开销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45836" y="4846320"/>
            <a:ext cx="4448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SSE（远程 HTTP 长连接）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45836" y="516636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适用云端服务 · 远程调用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16 页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知识全景图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个概念的关联关系总览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17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74236" y="2834640"/>
            <a:ext cx="2743200" cy="10972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174236" y="28346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17036" y="192024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7036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分词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17436" y="219456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17436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17436" y="420624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17436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17036" y="493776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7036" y="4937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6636" y="402336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协议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6636" y="237744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603504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→ Embedding → 向量数据库 → RAG → MCP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17 页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学习路线建议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从基础到高级，循序渐进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18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45720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200253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002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1965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分词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1965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LLM 的“语言”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0" y="196596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1~2 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265176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2651760"/>
            <a:ext cx="45720" cy="6217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273405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2734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03120" y="2697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架构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2697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+ 训练范式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0" y="269748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3~5 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97280" y="338328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3383280"/>
            <a:ext cx="45720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" y="346557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03120" y="3429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0" y="3429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语义向量与相似度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5280" y="342900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2~3 天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97280" y="411480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7280" y="4114800"/>
            <a:ext cx="45720" cy="6217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0" name="Shape 28"/>
          <p:cNvSpPr/>
          <p:nvPr/>
        </p:nvSpPr>
        <p:spPr>
          <a:xfrm>
            <a:off x="1371600" y="419709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0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103120" y="4160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72000" y="4160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存储与检索高维向量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955280" y="416052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3~5 天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97280" y="484632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7280" y="4846320"/>
            <a:ext cx="45720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Shape 35"/>
          <p:cNvSpPr/>
          <p:nvPr/>
        </p:nvSpPr>
        <p:spPr>
          <a:xfrm>
            <a:off x="1371600" y="492861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1371600" y="4928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103120" y="4892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实战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572000" y="4892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搭建一个智能问答系统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955280" y="489204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5~7 天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97280" y="557784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7280" y="5577840"/>
            <a:ext cx="45720" cy="6217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4" name="Shape 42"/>
          <p:cNvSpPr/>
          <p:nvPr/>
        </p:nvSpPr>
        <p:spPr>
          <a:xfrm>
            <a:off x="1371600" y="566013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5" name="Text 43"/>
          <p:cNvSpPr/>
          <p:nvPr/>
        </p:nvSpPr>
        <p:spPr>
          <a:xfrm>
            <a:off x="1371600" y="5660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2103120" y="5623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协议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572000" y="5623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连接万物的接口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955280" y="562356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3~5 天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18 页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核心要点回顾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19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05740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8720" y="246888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是核心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92608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架构 + 三阶段训练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AI 应用的“大脑”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72712" y="192024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72712" y="205740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🔤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264152" y="246888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是基础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64152" y="292608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计费、速度、上下文的计算单位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简单但影响深远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48144" y="192024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48144" y="205740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🔢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39584" y="246888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是桥梁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39584" y="292608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让计算机理解语义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RAG 和搜索的关键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402336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16052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88720" y="457200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向量数据库是引擎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502920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存储和检索语义向量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核心基础设施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72712" y="402336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72712" y="416052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264152" y="457200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是应用范式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64152" y="502920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外挂知识库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LLM 从闭卷变开卷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48144" y="402336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48144" y="416052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339584" y="457200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是未来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39584" y="502920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LLM 安全连接万物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19 页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10972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NaN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8897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推荐学习资源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Attention Is All You Need (2017) — Transformer 原论文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OpenAI GPT-4 Technical Report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74904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Anthropic MCP 官方文档 &amp; GitHub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416052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Pinecone / Milvus 向量数据库官方文档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457200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LangChain / LlamaIndex RAG 框架文档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20 页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2026-05-17T06:27:53Z</dcterms:created>
  <dcterms:modified xsi:type="dcterms:W3CDTF">2026-05-17T06:27:53Z</dcterms:modified>
</cp:coreProperties>
</file>